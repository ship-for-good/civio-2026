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320042" cy="514350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7132319" y="-548641"/>
            <a:ext cx="3200401" cy="3200401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7772400" y="2560320"/>
            <a:ext cx="2011681" cy="2011681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2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640080" y="502919"/>
            <a:ext cx="1920240" cy="347473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640080" y="613155"/>
            <a:ext cx="19202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Ship for Good 2026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594359" y="1178564"/>
            <a:ext cx="7315201" cy="751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800">
                <a:solidFill>
                  <a:srgbClr val="FFFFFF"/>
                </a:solidFill>
              </a:defRPr>
            </a:lvl1pPr>
          </a:lstStyle>
          <a:p>
            <a:pPr/>
            <a:r>
              <a:t>CivioDoc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94359" y="2171352"/>
            <a:ext cx="7315201" cy="457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600">
                <a:solidFill>
                  <a:srgbClr val="93C5FD"/>
                </a:solidFill>
              </a:defRPr>
            </a:lvl1pPr>
          </a:lstStyle>
          <a:p>
            <a:pPr/>
            <a:r>
              <a:t>para Civio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594359" y="3152842"/>
            <a:ext cx="68580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CBD5E1"/>
                </a:solidFill>
              </a:defRPr>
            </a:lvl1pPr>
          </a:lstStyle>
          <a:p>
            <a:pPr/>
            <a:r>
              <a:t>Gestión inteligente del derecho de acceso a la información pública</a:t>
            </a:r>
          </a:p>
        </p:txBody>
      </p:sp>
      <p:sp>
        <p:nvSpPr>
          <p:cNvPr id="28" name="Shape 8"/>
          <p:cNvSpPr/>
          <p:nvPr/>
        </p:nvSpPr>
        <p:spPr>
          <a:xfrm>
            <a:off x="594359" y="4200347"/>
            <a:ext cx="8229601" cy="12701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594359" y="4459146"/>
            <a:ext cx="82296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Primera iteración — Plataforma de subida y clasificación de expedientes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 txBox="1"/>
          <p:nvPr/>
        </p:nvSpPr>
        <p:spPr>
          <a:xfrm>
            <a:off x="457200" y="37224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El problema</a:t>
            </a:r>
          </a:p>
        </p:txBody>
      </p:sp>
      <p:sp>
        <p:nvSpPr>
          <p:cNvPr id="32" name="Text 1"/>
          <p:cNvSpPr txBox="1"/>
          <p:nvPr/>
        </p:nvSpPr>
        <p:spPr>
          <a:xfrm>
            <a:off x="457200" y="96817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pPr/>
            <a:r>
              <a:t>Gestionar solicitudes de transparencia es un proceso costoso, manual, fragmentado y difícil de mantener</a:t>
            </a:r>
          </a:p>
        </p:txBody>
      </p:sp>
      <p:sp>
        <p:nvSpPr>
          <p:cNvPr id="33" name="Shape 2"/>
          <p:cNvSpPr/>
          <p:nvPr/>
        </p:nvSpPr>
        <p:spPr>
          <a:xfrm>
            <a:off x="457199" y="1417319"/>
            <a:ext cx="4023361" cy="15087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" name="Shape 3"/>
          <p:cNvSpPr/>
          <p:nvPr/>
        </p:nvSpPr>
        <p:spPr>
          <a:xfrm>
            <a:off x="457200" y="1417319"/>
            <a:ext cx="54864" cy="1508762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8368" y="1581911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Text 4"/>
          <p:cNvSpPr txBox="1"/>
          <p:nvPr/>
        </p:nvSpPr>
        <p:spPr>
          <a:xfrm>
            <a:off x="1078991" y="1617403"/>
            <a:ext cx="32461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Notificaciones opacas</a:t>
            </a:r>
          </a:p>
        </p:txBody>
      </p:sp>
      <p:sp>
        <p:nvSpPr>
          <p:cNvPr id="37" name="Text 5"/>
          <p:cNvSpPr txBox="1"/>
          <p:nvPr/>
        </p:nvSpPr>
        <p:spPr>
          <a:xfrm>
            <a:off x="658367" y="2148376"/>
            <a:ext cx="3730754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El portal envía un email con solo el número de expediente. Para saber qué dice, hay que entrar con certificado digital y descargar el PDF antes de que caduque.</a:t>
            </a:r>
          </a:p>
        </p:txBody>
      </p:sp>
      <p:sp>
        <p:nvSpPr>
          <p:cNvPr id="38" name="Shape 6"/>
          <p:cNvSpPr/>
          <p:nvPr/>
        </p:nvSpPr>
        <p:spPr>
          <a:xfrm>
            <a:off x="4800600" y="1417319"/>
            <a:ext cx="4023360" cy="15087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9" name="Shape 7"/>
          <p:cNvSpPr/>
          <p:nvPr/>
        </p:nvSpPr>
        <p:spPr>
          <a:xfrm>
            <a:off x="4800600" y="1417319"/>
            <a:ext cx="54864" cy="1508762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01767" y="1581911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ext 8"/>
          <p:cNvSpPr txBox="1"/>
          <p:nvPr/>
        </p:nvSpPr>
        <p:spPr>
          <a:xfrm>
            <a:off x="5422391" y="1617403"/>
            <a:ext cx="324612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Plazos con consecuencias fatales</a:t>
            </a:r>
          </a:p>
        </p:txBody>
      </p:sp>
      <p:sp>
        <p:nvSpPr>
          <p:cNvPr id="42" name="Text 9"/>
          <p:cNvSpPr txBox="1"/>
          <p:nvPr/>
        </p:nvSpPr>
        <p:spPr>
          <a:xfrm>
            <a:off x="5001767" y="2148376"/>
            <a:ext cx="3730754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Perder el plazo de recurso por no ver una notificación puede invalidar meses de trabajo de investigación. El reloj no empieza al recibir, sino cuando el organismo decide tramitar.</a:t>
            </a:r>
          </a:p>
        </p:txBody>
      </p:sp>
      <p:sp>
        <p:nvSpPr>
          <p:cNvPr id="43" name="Shape 10"/>
          <p:cNvSpPr/>
          <p:nvPr/>
        </p:nvSpPr>
        <p:spPr>
          <a:xfrm>
            <a:off x="457199" y="3108960"/>
            <a:ext cx="4023361" cy="15087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Shape 11"/>
          <p:cNvSpPr/>
          <p:nvPr/>
        </p:nvSpPr>
        <p:spPr>
          <a:xfrm>
            <a:off x="457200" y="3108960"/>
            <a:ext cx="54864" cy="15087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8368" y="3273552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 12"/>
          <p:cNvSpPr txBox="1"/>
          <p:nvPr/>
        </p:nvSpPr>
        <p:spPr>
          <a:xfrm>
            <a:off x="1078991" y="3309042"/>
            <a:ext cx="32461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Efecto multiplicador</a:t>
            </a:r>
          </a:p>
        </p:txBody>
      </p:sp>
      <p:sp>
        <p:nvSpPr>
          <p:cNvPr id="47" name="Text 13"/>
          <p:cNvSpPr txBox="1"/>
          <p:nvPr/>
        </p:nvSpPr>
        <p:spPr>
          <a:xfrm>
            <a:off x="658367" y="3840016"/>
            <a:ext cx="3730754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Un ministerio puede redistribuir 1 solicitud en 22 expedientes paralelos, cada uno con sus propias notificaciones, plazos y posibles alegaciones sin aviso previo.</a:t>
            </a:r>
          </a:p>
        </p:txBody>
      </p:sp>
      <p:sp>
        <p:nvSpPr>
          <p:cNvPr id="48" name="Shape 14"/>
          <p:cNvSpPr/>
          <p:nvPr/>
        </p:nvSpPr>
        <p:spPr>
          <a:xfrm>
            <a:off x="4800600" y="3108960"/>
            <a:ext cx="4023360" cy="15087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Shape 15"/>
          <p:cNvSpPr/>
          <p:nvPr/>
        </p:nvSpPr>
        <p:spPr>
          <a:xfrm>
            <a:off x="4800600" y="3108960"/>
            <a:ext cx="54864" cy="1508761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001767" y="3273552"/>
            <a:ext cx="320041" cy="32004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Text 16"/>
          <p:cNvSpPr txBox="1"/>
          <p:nvPr/>
        </p:nvSpPr>
        <p:spPr>
          <a:xfrm>
            <a:off x="5422391" y="3309042"/>
            <a:ext cx="324612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F172A"/>
                </a:solidFill>
              </a:defRPr>
            </a:lvl1pPr>
          </a:lstStyle>
          <a:p>
            <a:pPr/>
            <a:r>
              <a:t>Seguimiento fragmentado</a:t>
            </a:r>
          </a:p>
        </p:txBody>
      </p:sp>
      <p:sp>
        <p:nvSpPr>
          <p:cNvPr id="52" name="Text 17"/>
          <p:cNvSpPr txBox="1"/>
          <p:nvPr/>
        </p:nvSpPr>
        <p:spPr>
          <a:xfrm>
            <a:off x="5001767" y="3840016"/>
            <a:ext cx="3730754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La tabla Airtable calcula fechas pero deja sin resolver lo más costoso: la lectura de notificaciones y el registro de alegaciones que viven solo en la cabeza de los periodistas.</a:t>
            </a:r>
          </a:p>
        </p:txBody>
      </p:sp>
      <p:sp>
        <p:nvSpPr>
          <p:cNvPr id="53" name="Shape 18"/>
          <p:cNvSpPr/>
          <p:nvPr/>
        </p:nvSpPr>
        <p:spPr>
          <a:xfrm>
            <a:off x="457200" y="4663440"/>
            <a:ext cx="8229600" cy="292609"/>
          </a:xfrm>
          <a:prstGeom prst="rect">
            <a:avLst/>
          </a:prstGeom>
          <a:solidFill>
            <a:srgbClr val="FEF3C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9"/>
          <p:cNvSpPr txBox="1"/>
          <p:nvPr/>
        </p:nvSpPr>
        <p:spPr>
          <a:xfrm>
            <a:off x="548640" y="4658658"/>
            <a:ext cx="8046719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92400E"/>
                </a:solidFill>
              </a:defRPr>
            </a:lvl1pPr>
          </a:lstStyle>
          <a:p>
            <a:pPr/>
            <a:r>
              <a:t>"Es complejo seguir el estado de las solicitudes, son procesos largos y mucho back and forth. Es un seguimiento del que tienes que estar pendiente."  — Equipo Civio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457200" y="37224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Solución IT-Power</a:t>
            </a:r>
          </a:p>
        </p:txBody>
      </p:sp>
      <p:sp>
        <p:nvSpPr>
          <p:cNvPr id="57" name="Text 1"/>
          <p:cNvSpPr txBox="1"/>
          <p:nvPr/>
        </p:nvSpPr>
        <p:spPr>
          <a:xfrm>
            <a:off x="457200" y="96817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pPr/>
            <a:r>
              <a:t>Una plataforma centralizada que convierte PDFs de expedientes en información estructurada y accionable</a:t>
            </a:r>
          </a:p>
        </p:txBody>
      </p:sp>
      <p:sp>
        <p:nvSpPr>
          <p:cNvPr id="58" name="Shape 2"/>
          <p:cNvSpPr/>
          <p:nvPr/>
        </p:nvSpPr>
        <p:spPr>
          <a:xfrm>
            <a:off x="411480" y="1463039"/>
            <a:ext cx="2651761" cy="3200401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" name="Shape 3"/>
          <p:cNvSpPr/>
          <p:nvPr/>
        </p:nvSpPr>
        <p:spPr>
          <a:xfrm>
            <a:off x="411480" y="1463039"/>
            <a:ext cx="2651761" cy="54865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4"/>
          <p:cNvSpPr txBox="1"/>
          <p:nvPr/>
        </p:nvSpPr>
        <p:spPr>
          <a:xfrm>
            <a:off x="548640" y="1652141"/>
            <a:ext cx="548641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2563EB"/>
                </a:solidFill>
              </a:defRPr>
            </a:lvl1pPr>
          </a:lstStyle>
          <a:p>
            <a:pPr/>
            <a:r>
              <a:t>01</a:t>
            </a:r>
          </a:p>
        </p:txBody>
      </p:sp>
      <p:pic>
        <p:nvPicPr>
          <p:cNvPr id="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2648" y="2240279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Text 5"/>
          <p:cNvSpPr txBox="1"/>
          <p:nvPr/>
        </p:nvSpPr>
        <p:spPr>
          <a:xfrm>
            <a:off x="548640" y="3020254"/>
            <a:ext cx="237744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Login seguro</a:t>
            </a:r>
          </a:p>
        </p:txBody>
      </p:sp>
      <p:sp>
        <p:nvSpPr>
          <p:cNvPr id="63" name="Text 6"/>
          <p:cNvSpPr txBox="1"/>
          <p:nvPr/>
        </p:nvSpPr>
        <p:spPr>
          <a:xfrm>
            <a:off x="548639" y="3786807"/>
            <a:ext cx="242316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- Acceso autenticado para el equipo de Civio.</a:t>
            </a:r>
          </a:p>
        </p:txBody>
      </p:sp>
      <p:sp>
        <p:nvSpPr>
          <p:cNvPr id="64" name="Shape 7"/>
          <p:cNvSpPr/>
          <p:nvPr/>
        </p:nvSpPr>
        <p:spPr>
          <a:xfrm>
            <a:off x="3063239" y="3035807"/>
            <a:ext cx="228601" cy="54865"/>
          </a:xfrm>
          <a:prstGeom prst="rect">
            <a:avLst/>
          </a:prstGeom>
          <a:solidFill>
            <a:srgbClr val="CBD5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8"/>
          <p:cNvSpPr/>
          <p:nvPr/>
        </p:nvSpPr>
        <p:spPr>
          <a:xfrm>
            <a:off x="3291840" y="1463039"/>
            <a:ext cx="2651761" cy="3200401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Shape 9"/>
          <p:cNvSpPr/>
          <p:nvPr/>
        </p:nvSpPr>
        <p:spPr>
          <a:xfrm>
            <a:off x="3291840" y="1463039"/>
            <a:ext cx="2651761" cy="5486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0"/>
          <p:cNvSpPr txBox="1"/>
          <p:nvPr/>
        </p:nvSpPr>
        <p:spPr>
          <a:xfrm>
            <a:off x="3429000" y="1652141"/>
            <a:ext cx="548641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7C3AED"/>
                </a:solidFill>
              </a:defRPr>
            </a:lvl1pPr>
          </a:lstStyle>
          <a:p>
            <a:pPr/>
            <a:r>
              <a:t>02</a:t>
            </a:r>
          </a:p>
        </p:txBody>
      </p:sp>
      <p:pic>
        <p:nvPicPr>
          <p:cNvPr id="6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93008" y="2240279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Text 11"/>
          <p:cNvSpPr txBox="1"/>
          <p:nvPr/>
        </p:nvSpPr>
        <p:spPr>
          <a:xfrm>
            <a:off x="3429000" y="3020254"/>
            <a:ext cx="237744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Subida de PDFs y Clasificación</a:t>
            </a:r>
          </a:p>
        </p:txBody>
      </p:sp>
      <p:sp>
        <p:nvSpPr>
          <p:cNvPr id="70" name="Text 12"/>
          <p:cNvSpPr txBox="1"/>
          <p:nvPr/>
        </p:nvSpPr>
        <p:spPr>
          <a:xfrm>
            <a:off x="3428999" y="3374058"/>
            <a:ext cx="2423161" cy="1124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- Una vez registrada la solicitud subimos el justificante a la plataforma.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- Por texto o OCR extrae Nº Expediente, asunto y organismo y crea un nuevo registro.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- Nuevos documentos y notificaciones del expediente actualizan el estado</a:t>
            </a:r>
          </a:p>
        </p:txBody>
      </p:sp>
      <p:sp>
        <p:nvSpPr>
          <p:cNvPr id="71" name="Shape 13"/>
          <p:cNvSpPr/>
          <p:nvPr/>
        </p:nvSpPr>
        <p:spPr>
          <a:xfrm>
            <a:off x="5943600" y="3035807"/>
            <a:ext cx="228600" cy="54865"/>
          </a:xfrm>
          <a:prstGeom prst="rect">
            <a:avLst/>
          </a:prstGeom>
          <a:solidFill>
            <a:srgbClr val="CBD5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Shape 14"/>
          <p:cNvSpPr/>
          <p:nvPr/>
        </p:nvSpPr>
        <p:spPr>
          <a:xfrm>
            <a:off x="6172200" y="1463039"/>
            <a:ext cx="2651761" cy="3200401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3" name="Shape 15"/>
          <p:cNvSpPr/>
          <p:nvPr/>
        </p:nvSpPr>
        <p:spPr>
          <a:xfrm>
            <a:off x="6172200" y="1463039"/>
            <a:ext cx="2651761" cy="54865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16"/>
          <p:cNvSpPr txBox="1"/>
          <p:nvPr/>
        </p:nvSpPr>
        <p:spPr>
          <a:xfrm>
            <a:off x="6309359" y="1652141"/>
            <a:ext cx="548641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059669"/>
                </a:solidFill>
              </a:defRPr>
            </a:lvl1pPr>
          </a:lstStyle>
          <a:p>
            <a:pPr/>
            <a:r>
              <a:t>03</a:t>
            </a:r>
          </a:p>
        </p:txBody>
      </p:sp>
      <p:pic>
        <p:nvPicPr>
          <p:cNvPr id="7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73367" y="2240279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Text 17"/>
          <p:cNvSpPr txBox="1"/>
          <p:nvPr/>
        </p:nvSpPr>
        <p:spPr>
          <a:xfrm>
            <a:off x="6309359" y="3020254"/>
            <a:ext cx="237744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0F172A"/>
                </a:solidFill>
              </a:defRPr>
            </a:lvl1pPr>
          </a:lstStyle>
          <a:p>
            <a:pPr/>
            <a:r>
              <a:t>Búsqueda optimizada</a:t>
            </a:r>
          </a:p>
        </p:txBody>
      </p:sp>
      <p:sp>
        <p:nvSpPr>
          <p:cNvPr id="77" name="Text 18"/>
          <p:cNvSpPr txBox="1"/>
          <p:nvPr/>
        </p:nvSpPr>
        <p:spPr>
          <a:xfrm>
            <a:off x="6309359" y="3539157"/>
            <a:ext cx="2423161" cy="79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110289" indent="-110289">
              <a:buSzPct val="100000"/>
              <a:buChar char="-"/>
              <a:defRPr sz="1100">
                <a:solidFill>
                  <a:srgbClr val="64748B"/>
                </a:solidFill>
              </a:defRPr>
            </a:pPr>
            <a:r>
              <a:t>Permite realizar búsquedas y filtros múltiples en el dashboard de expediente.</a:t>
            </a:r>
          </a:p>
          <a:p>
            <a:pPr marL="110289" indent="-110289">
              <a:buSzPct val="100000"/>
              <a:buChar char="-"/>
              <a:defRPr sz="1100">
                <a:solidFill>
                  <a:srgbClr val="64748B"/>
                </a:solidFill>
              </a:defRPr>
            </a:pPr>
            <a:r>
              <a:t>Búsqueda profunda del contenido del documentos.</a:t>
            </a:r>
          </a:p>
        </p:txBody>
      </p:sp>
      <p:sp>
        <p:nvSpPr>
          <p:cNvPr id="78" name="Shape 19"/>
          <p:cNvSpPr/>
          <p:nvPr/>
        </p:nvSpPr>
        <p:spPr>
          <a:xfrm>
            <a:off x="411479" y="4663440"/>
            <a:ext cx="8321042" cy="292609"/>
          </a:xfrm>
          <a:prstGeom prst="rect">
            <a:avLst/>
          </a:prstGeom>
          <a:solidFill>
            <a:srgbClr val="EFF6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0"/>
          <p:cNvSpPr txBox="1"/>
          <p:nvPr/>
        </p:nvSpPr>
        <p:spPr>
          <a:xfrm>
            <a:off x="502920" y="4731311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E40AF"/>
                </a:solidFill>
              </a:defRPr>
            </a:lvl1pPr>
          </a:lstStyle>
          <a:p>
            <a:pPr>
              <a:defRPr>
                <a:solidFill>
                  <a:srgbClr val="2563EB"/>
                </a:solidFill>
              </a:defRPr>
            </a:pPr>
            <a:r>
              <a:rPr>
                <a:solidFill>
                  <a:srgbClr val="1E40AF"/>
                </a:solidFill>
              </a:rPr>
              <a:t>De PDFs opacos a un dashboard con fechas clave, organismo, estados por expediente y alertas automáticas por cada notificación.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 txBox="1"/>
          <p:nvPr/>
        </p:nvSpPr>
        <p:spPr>
          <a:xfrm>
            <a:off x="457200" y="372243"/>
            <a:ext cx="54864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Estado actual</a:t>
            </a:r>
          </a:p>
        </p:txBody>
      </p:sp>
      <p:sp>
        <p:nvSpPr>
          <p:cNvPr id="82" name="Shape 1"/>
          <p:cNvSpPr/>
          <p:nvPr/>
        </p:nvSpPr>
        <p:spPr>
          <a:xfrm>
            <a:off x="6583680" y="347472"/>
            <a:ext cx="2011681" cy="411481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2"/>
          <p:cNvSpPr txBox="1"/>
          <p:nvPr/>
        </p:nvSpPr>
        <p:spPr>
          <a:xfrm>
            <a:off x="6583680" y="474531"/>
            <a:ext cx="2011680" cy="15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16653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t>Iteración 1 construida</a:t>
            </a:r>
          </a:p>
        </p:txBody>
      </p:sp>
      <p:sp>
        <p:nvSpPr>
          <p:cNvPr id="84" name="Text 3"/>
          <p:cNvSpPr txBox="1"/>
          <p:nvPr/>
        </p:nvSpPr>
        <p:spPr>
          <a:xfrm>
            <a:off x="457200" y="94531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pPr/>
            <a:r>
              <a:t>Lo que está funcionando hoy</a:t>
            </a:r>
          </a:p>
        </p:txBody>
      </p:sp>
      <p:sp>
        <p:nvSpPr>
          <p:cNvPr id="85" name="Shape 4"/>
          <p:cNvSpPr/>
          <p:nvPr/>
        </p:nvSpPr>
        <p:spPr>
          <a:xfrm>
            <a:off x="411480" y="1371600"/>
            <a:ext cx="2651761" cy="3429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2648" y="1572767"/>
            <a:ext cx="384049" cy="384049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Text 5"/>
          <p:cNvSpPr txBox="1"/>
          <p:nvPr/>
        </p:nvSpPr>
        <p:spPr>
          <a:xfrm>
            <a:off x="1097280" y="1670112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Autenticación</a:t>
            </a:r>
          </a:p>
        </p:txBody>
      </p:sp>
      <p:sp>
        <p:nvSpPr>
          <p:cNvPr id="88" name="Shape 6"/>
          <p:cNvSpPr/>
          <p:nvPr/>
        </p:nvSpPr>
        <p:spPr>
          <a:xfrm>
            <a:off x="612648" y="2078938"/>
            <a:ext cx="224942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648" y="2286000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Text 7"/>
          <p:cNvSpPr txBox="1"/>
          <p:nvPr/>
        </p:nvSpPr>
        <p:spPr>
          <a:xfrm>
            <a:off x="914400" y="2333166"/>
            <a:ext cx="201167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Login con usuario y contraseña</a:t>
            </a:r>
          </a:p>
        </p:txBody>
      </p:sp>
      <p:pic>
        <p:nvPicPr>
          <p:cNvPr id="91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648" y="30358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ext 8"/>
          <p:cNvSpPr txBox="1"/>
          <p:nvPr/>
        </p:nvSpPr>
        <p:spPr>
          <a:xfrm>
            <a:off x="914400" y="3082974"/>
            <a:ext cx="201167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Sesiones seguras por usuario</a:t>
            </a:r>
          </a:p>
        </p:txBody>
      </p:sp>
      <p:sp>
        <p:nvSpPr>
          <p:cNvPr id="93" name="Shape 10"/>
          <p:cNvSpPr/>
          <p:nvPr/>
        </p:nvSpPr>
        <p:spPr>
          <a:xfrm>
            <a:off x="3291840" y="1371600"/>
            <a:ext cx="2651761" cy="3429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94" name="Image 4" descr="Imag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493008" y="1572767"/>
            <a:ext cx="384049" cy="384049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 11"/>
          <p:cNvSpPr txBox="1"/>
          <p:nvPr/>
        </p:nvSpPr>
        <p:spPr>
          <a:xfrm>
            <a:off x="3977640" y="1670112"/>
            <a:ext cx="18288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Subida de expedientes</a:t>
            </a:r>
          </a:p>
        </p:txBody>
      </p:sp>
      <p:sp>
        <p:nvSpPr>
          <p:cNvPr id="96" name="Shape 12"/>
          <p:cNvSpPr/>
          <p:nvPr/>
        </p:nvSpPr>
        <p:spPr>
          <a:xfrm>
            <a:off x="3493008" y="2078938"/>
            <a:ext cx="224942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7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93008" y="2286000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 13"/>
          <p:cNvSpPr txBox="1"/>
          <p:nvPr/>
        </p:nvSpPr>
        <p:spPr>
          <a:xfrm>
            <a:off x="3794759" y="2333166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Upload de PDF desde el portal</a:t>
            </a:r>
          </a:p>
        </p:txBody>
      </p:sp>
      <p:pic>
        <p:nvPicPr>
          <p:cNvPr id="99" name="Image 6" descr="Imag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93008" y="30358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14"/>
          <p:cNvSpPr txBox="1"/>
          <p:nvPr/>
        </p:nvSpPr>
        <p:spPr>
          <a:xfrm>
            <a:off x="3794759" y="3082974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Campos: nº expediente y asunto</a:t>
            </a:r>
          </a:p>
        </p:txBody>
      </p:sp>
      <p:sp>
        <p:nvSpPr>
          <p:cNvPr id="101" name="Shape 16"/>
          <p:cNvSpPr/>
          <p:nvPr/>
        </p:nvSpPr>
        <p:spPr>
          <a:xfrm>
            <a:off x="6172200" y="1371600"/>
            <a:ext cx="2651761" cy="3429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02" name="Image 8" descr="Imag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73367" y="1572767"/>
            <a:ext cx="384049" cy="384049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17"/>
          <p:cNvSpPr txBox="1"/>
          <p:nvPr/>
        </p:nvSpPr>
        <p:spPr>
          <a:xfrm>
            <a:off x="6858000" y="1670112"/>
            <a:ext cx="18288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F172A"/>
                </a:solidFill>
              </a:defRPr>
            </a:lvl1pPr>
          </a:lstStyle>
          <a:p>
            <a:pPr/>
            <a:r>
              <a:t>Registro estructurado</a:t>
            </a:r>
          </a:p>
        </p:txBody>
      </p:sp>
      <p:sp>
        <p:nvSpPr>
          <p:cNvPr id="104" name="Shape 18"/>
          <p:cNvSpPr/>
          <p:nvPr/>
        </p:nvSpPr>
        <p:spPr>
          <a:xfrm>
            <a:off x="6373367" y="2078938"/>
            <a:ext cx="2249425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5" name="Image 9" descr="Imag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73367" y="2286000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19"/>
          <p:cNvSpPr txBox="1"/>
          <p:nvPr/>
        </p:nvSpPr>
        <p:spPr>
          <a:xfrm>
            <a:off x="6675119" y="2333166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Base de datos de expedientes</a:t>
            </a:r>
          </a:p>
        </p:txBody>
      </p:sp>
      <p:pic>
        <p:nvPicPr>
          <p:cNvPr id="107" name="Image 10" descr="Imag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73367" y="3035807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 20"/>
          <p:cNvSpPr txBox="1"/>
          <p:nvPr/>
        </p:nvSpPr>
        <p:spPr>
          <a:xfrm>
            <a:off x="6675119" y="3082974"/>
            <a:ext cx="201168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Metadata: organismo, fecha, tipo</a:t>
            </a:r>
          </a:p>
        </p:txBody>
      </p:sp>
      <p:pic>
        <p:nvPicPr>
          <p:cNvPr id="109" name="Image 11" descr="Imag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73367" y="3785615"/>
            <a:ext cx="201169" cy="20116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 21"/>
          <p:cNvSpPr txBox="1"/>
          <p:nvPr/>
        </p:nvSpPr>
        <p:spPr>
          <a:xfrm>
            <a:off x="6675119" y="3667682"/>
            <a:ext cx="2011680" cy="464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Permite realizar búsquedas y filtros múltiples en el dashboard de expediente.</a:t>
            </a:r>
          </a:p>
        </p:txBody>
      </p:sp>
      <p:sp>
        <p:nvSpPr>
          <p:cNvPr id="111" name="Shape 22"/>
          <p:cNvSpPr/>
          <p:nvPr/>
        </p:nvSpPr>
        <p:spPr>
          <a:xfrm>
            <a:off x="411479" y="4663440"/>
            <a:ext cx="8412482" cy="292609"/>
          </a:xfrm>
          <a:prstGeom prst="rect">
            <a:avLst/>
          </a:prstGeom>
          <a:solidFill>
            <a:srgbClr val="F0FD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23"/>
          <p:cNvSpPr txBox="1"/>
          <p:nvPr/>
        </p:nvSpPr>
        <p:spPr>
          <a:xfrm>
            <a:off x="648351" y="4726363"/>
            <a:ext cx="813816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66534"/>
                </a:solidFill>
              </a:defRPr>
            </a:lvl1pPr>
          </a:lstStyle>
          <a:p>
            <a:pPr/>
            <a:r>
              <a:t>Stack: REACT + Supabase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 txBox="1"/>
          <p:nvPr/>
        </p:nvSpPr>
        <p:spPr>
          <a:xfrm>
            <a:off x="457200" y="37224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Flujo de usuario — Iteración 1</a:t>
            </a:r>
          </a:p>
        </p:txBody>
      </p:sp>
      <p:sp>
        <p:nvSpPr>
          <p:cNvPr id="115" name="Text 1"/>
          <p:cNvSpPr txBox="1"/>
          <p:nvPr/>
        </p:nvSpPr>
        <p:spPr>
          <a:xfrm>
            <a:off x="457200" y="94531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pPr/>
            <a:r>
              <a:t>Del email opaco del portal al expediente registrado en 3 pasos</a:t>
            </a:r>
          </a:p>
        </p:txBody>
      </p:sp>
      <p:sp>
        <p:nvSpPr>
          <p:cNvPr id="116" name="Shape 2"/>
          <p:cNvSpPr/>
          <p:nvPr/>
        </p:nvSpPr>
        <p:spPr>
          <a:xfrm>
            <a:off x="320039" y="1417319"/>
            <a:ext cx="1508762" cy="2286001"/>
          </a:xfrm>
          <a:prstGeom prst="rect">
            <a:avLst/>
          </a:prstGeom>
          <a:solidFill>
            <a:srgbClr val="FFF7ED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7" name="Shape 3"/>
          <p:cNvSpPr/>
          <p:nvPr/>
        </p:nvSpPr>
        <p:spPr>
          <a:xfrm>
            <a:off x="320039" y="1417319"/>
            <a:ext cx="1508762" cy="54865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Shape 4"/>
          <p:cNvSpPr/>
          <p:nvPr/>
        </p:nvSpPr>
        <p:spPr>
          <a:xfrm>
            <a:off x="850391" y="1572767"/>
            <a:ext cx="438913" cy="438913"/>
          </a:xfrm>
          <a:prstGeom prst="ellipse">
            <a:avLst/>
          </a:prstGeom>
          <a:solidFill>
            <a:srgbClr val="DC26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5"/>
          <p:cNvSpPr txBox="1"/>
          <p:nvPr/>
        </p:nvSpPr>
        <p:spPr>
          <a:xfrm>
            <a:off x="850391" y="1687647"/>
            <a:ext cx="43891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0" name="Text 6"/>
          <p:cNvSpPr txBox="1"/>
          <p:nvPr/>
        </p:nvSpPr>
        <p:spPr>
          <a:xfrm>
            <a:off x="411480" y="2319196"/>
            <a:ext cx="13258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Llega email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del portal</a:t>
            </a:r>
          </a:p>
        </p:txBody>
      </p:sp>
      <p:sp>
        <p:nvSpPr>
          <p:cNvPr id="121" name="Text 7"/>
          <p:cNvSpPr txBox="1"/>
          <p:nvPr/>
        </p:nvSpPr>
        <p:spPr>
          <a:xfrm>
            <a:off x="411480" y="3027593"/>
            <a:ext cx="132588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900">
                <a:solidFill>
                  <a:srgbClr val="64748B"/>
                </a:solidFill>
              </a:defRPr>
            </a:pPr>
            <a:r>
              <a:t>Solo nº expediente</a:t>
            </a:r>
          </a:p>
          <a:p>
            <a:pPr algn="ctr">
              <a:defRPr i="1" sz="900">
                <a:solidFill>
                  <a:srgbClr val="64748B"/>
                </a:solidFill>
              </a:defRPr>
            </a:pPr>
            <a:r>
              <a:t>y nombre organismo</a:t>
            </a:r>
          </a:p>
        </p:txBody>
      </p:sp>
      <p:sp>
        <p:nvSpPr>
          <p:cNvPr id="122" name="Shape 8"/>
          <p:cNvSpPr/>
          <p:nvPr/>
        </p:nvSpPr>
        <p:spPr>
          <a:xfrm>
            <a:off x="1828800" y="2542032"/>
            <a:ext cx="201169" cy="36577"/>
          </a:xfrm>
          <a:prstGeom prst="rect">
            <a:avLst/>
          </a:prstGeom>
          <a:solidFill>
            <a:srgbClr val="CBD5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9"/>
          <p:cNvSpPr/>
          <p:nvPr/>
        </p:nvSpPr>
        <p:spPr>
          <a:xfrm>
            <a:off x="2029967" y="1417319"/>
            <a:ext cx="1508761" cy="2286001"/>
          </a:xfrm>
          <a:prstGeom prst="rect">
            <a:avLst/>
          </a:prstGeom>
          <a:solidFill>
            <a:srgbClr val="FFF7ED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Shape 10"/>
          <p:cNvSpPr/>
          <p:nvPr/>
        </p:nvSpPr>
        <p:spPr>
          <a:xfrm>
            <a:off x="2029967" y="1417319"/>
            <a:ext cx="1508761" cy="54865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11"/>
          <p:cNvSpPr/>
          <p:nvPr/>
        </p:nvSpPr>
        <p:spPr>
          <a:xfrm>
            <a:off x="2560320" y="1572767"/>
            <a:ext cx="438913" cy="438913"/>
          </a:xfrm>
          <a:prstGeom prst="ellipse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12"/>
          <p:cNvSpPr txBox="1"/>
          <p:nvPr/>
        </p:nvSpPr>
        <p:spPr>
          <a:xfrm>
            <a:off x="2560320" y="1687647"/>
            <a:ext cx="43891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7" name="Text 13"/>
          <p:cNvSpPr txBox="1"/>
          <p:nvPr/>
        </p:nvSpPr>
        <p:spPr>
          <a:xfrm>
            <a:off x="2121407" y="2319196"/>
            <a:ext cx="13258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Periodista entra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al portal</a:t>
            </a:r>
          </a:p>
        </p:txBody>
      </p:sp>
      <p:sp>
        <p:nvSpPr>
          <p:cNvPr id="128" name="Text 14"/>
          <p:cNvSpPr txBox="1"/>
          <p:nvPr/>
        </p:nvSpPr>
        <p:spPr>
          <a:xfrm>
            <a:off x="2121407" y="3027593"/>
            <a:ext cx="132588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900">
                <a:solidFill>
                  <a:srgbClr val="64748B"/>
                </a:solidFill>
              </a:defRPr>
            </a:pPr>
            <a:r>
              <a:t>Certificado digital,</a:t>
            </a:r>
          </a:p>
          <a:p>
            <a:pPr algn="ctr">
              <a:defRPr i="1" sz="900">
                <a:solidFill>
                  <a:srgbClr val="64748B"/>
                </a:solidFill>
              </a:defRPr>
            </a:pPr>
            <a:r>
              <a:t>busca notificación</a:t>
            </a:r>
          </a:p>
        </p:txBody>
      </p:sp>
      <p:sp>
        <p:nvSpPr>
          <p:cNvPr id="129" name="Shape 15"/>
          <p:cNvSpPr/>
          <p:nvPr/>
        </p:nvSpPr>
        <p:spPr>
          <a:xfrm>
            <a:off x="3538728" y="2542032"/>
            <a:ext cx="201169" cy="36577"/>
          </a:xfrm>
          <a:prstGeom prst="rect">
            <a:avLst/>
          </a:prstGeom>
          <a:solidFill>
            <a:srgbClr val="CBD5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Shape 16"/>
          <p:cNvSpPr/>
          <p:nvPr/>
        </p:nvSpPr>
        <p:spPr>
          <a:xfrm>
            <a:off x="3739896" y="1417319"/>
            <a:ext cx="1508761" cy="2286001"/>
          </a:xfrm>
          <a:prstGeom prst="rect">
            <a:avLst/>
          </a:prstGeom>
          <a:solidFill>
            <a:srgbClr val="FFF7ED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1" name="Shape 17"/>
          <p:cNvSpPr/>
          <p:nvPr/>
        </p:nvSpPr>
        <p:spPr>
          <a:xfrm>
            <a:off x="3739896" y="1417319"/>
            <a:ext cx="1508761" cy="5486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18"/>
          <p:cNvSpPr/>
          <p:nvPr/>
        </p:nvSpPr>
        <p:spPr>
          <a:xfrm>
            <a:off x="4270247" y="1572767"/>
            <a:ext cx="438913" cy="438913"/>
          </a:xfrm>
          <a:prstGeom prst="ellipse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19"/>
          <p:cNvSpPr txBox="1"/>
          <p:nvPr/>
        </p:nvSpPr>
        <p:spPr>
          <a:xfrm>
            <a:off x="4270247" y="1687647"/>
            <a:ext cx="43891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4" name="Text 20"/>
          <p:cNvSpPr txBox="1"/>
          <p:nvPr/>
        </p:nvSpPr>
        <p:spPr>
          <a:xfrm>
            <a:off x="3831335" y="2319196"/>
            <a:ext cx="13258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Descarga PDF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antes de caducidad</a:t>
            </a:r>
          </a:p>
        </p:txBody>
      </p:sp>
      <p:sp>
        <p:nvSpPr>
          <p:cNvPr id="135" name="Text 21"/>
          <p:cNvSpPr txBox="1"/>
          <p:nvPr/>
        </p:nvSpPr>
        <p:spPr>
          <a:xfrm>
            <a:off x="3831335" y="3027593"/>
            <a:ext cx="132588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900">
                <a:solidFill>
                  <a:srgbClr val="64748B"/>
                </a:solidFill>
              </a:defRPr>
            </a:pPr>
            <a:r>
              <a:t>Si no lo hace,</a:t>
            </a:r>
          </a:p>
          <a:p>
            <a:pPr algn="ctr">
              <a:defRPr i="1" sz="900">
                <a:solidFill>
                  <a:srgbClr val="64748B"/>
                </a:solidFill>
              </a:defRPr>
            </a:pPr>
            <a:r>
              <a:t>el doc expira</a:t>
            </a:r>
          </a:p>
        </p:txBody>
      </p:sp>
      <p:sp>
        <p:nvSpPr>
          <p:cNvPr id="136" name="Shape 22"/>
          <p:cNvSpPr/>
          <p:nvPr/>
        </p:nvSpPr>
        <p:spPr>
          <a:xfrm>
            <a:off x="5248655" y="2542032"/>
            <a:ext cx="201169" cy="36577"/>
          </a:xfrm>
          <a:prstGeom prst="rect">
            <a:avLst/>
          </a:prstGeom>
          <a:solidFill>
            <a:srgbClr val="CBD5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Shape 23"/>
          <p:cNvSpPr/>
          <p:nvPr/>
        </p:nvSpPr>
        <p:spPr>
          <a:xfrm>
            <a:off x="5449823" y="1417319"/>
            <a:ext cx="1508761" cy="2286001"/>
          </a:xfrm>
          <a:prstGeom prst="rect">
            <a:avLst/>
          </a:prstGeom>
          <a:solidFill>
            <a:srgbClr val="EFF6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Shape 24"/>
          <p:cNvSpPr/>
          <p:nvPr/>
        </p:nvSpPr>
        <p:spPr>
          <a:xfrm>
            <a:off x="5449823" y="1417319"/>
            <a:ext cx="1508761" cy="54865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Shape 25"/>
          <p:cNvSpPr/>
          <p:nvPr/>
        </p:nvSpPr>
        <p:spPr>
          <a:xfrm>
            <a:off x="5980176" y="1572767"/>
            <a:ext cx="438913" cy="438913"/>
          </a:xfrm>
          <a:prstGeom prst="ellipse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26"/>
          <p:cNvSpPr txBox="1"/>
          <p:nvPr/>
        </p:nvSpPr>
        <p:spPr>
          <a:xfrm>
            <a:off x="5980176" y="1687647"/>
            <a:ext cx="43891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1" name="Text 27"/>
          <p:cNvSpPr txBox="1"/>
          <p:nvPr/>
        </p:nvSpPr>
        <p:spPr>
          <a:xfrm>
            <a:off x="5541264" y="2319196"/>
            <a:ext cx="13258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Sube PDF a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CivioDoc</a:t>
            </a:r>
          </a:p>
        </p:txBody>
      </p:sp>
      <p:sp>
        <p:nvSpPr>
          <p:cNvPr id="142" name="Text 28"/>
          <p:cNvSpPr txBox="1"/>
          <p:nvPr/>
        </p:nvSpPr>
        <p:spPr>
          <a:xfrm>
            <a:off x="5541264" y="3027593"/>
            <a:ext cx="132588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900">
                <a:solidFill>
                  <a:srgbClr val="64748B"/>
                </a:solidFill>
              </a:defRPr>
            </a:pPr>
            <a:r>
              <a:t>Añade nº expediente</a:t>
            </a:r>
          </a:p>
          <a:p>
            <a:pPr algn="ctr">
              <a:defRPr i="1" sz="900">
                <a:solidFill>
                  <a:srgbClr val="64748B"/>
                </a:solidFill>
              </a:defRPr>
            </a:pPr>
            <a:r>
              <a:t>y fecha recibida</a:t>
            </a:r>
          </a:p>
        </p:txBody>
      </p:sp>
      <p:sp>
        <p:nvSpPr>
          <p:cNvPr id="143" name="Shape 29"/>
          <p:cNvSpPr/>
          <p:nvPr/>
        </p:nvSpPr>
        <p:spPr>
          <a:xfrm>
            <a:off x="6958583" y="2542032"/>
            <a:ext cx="201169" cy="36577"/>
          </a:xfrm>
          <a:prstGeom prst="rect">
            <a:avLst/>
          </a:prstGeom>
          <a:solidFill>
            <a:srgbClr val="CBD5E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30"/>
          <p:cNvSpPr/>
          <p:nvPr/>
        </p:nvSpPr>
        <p:spPr>
          <a:xfrm>
            <a:off x="7159752" y="1417319"/>
            <a:ext cx="1508761" cy="2286001"/>
          </a:xfrm>
          <a:prstGeom prst="rect">
            <a:avLst/>
          </a:prstGeom>
          <a:solidFill>
            <a:srgbClr val="EFF6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Shape 31"/>
          <p:cNvSpPr/>
          <p:nvPr/>
        </p:nvSpPr>
        <p:spPr>
          <a:xfrm>
            <a:off x="7159752" y="1417319"/>
            <a:ext cx="1508761" cy="54865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32"/>
          <p:cNvSpPr/>
          <p:nvPr/>
        </p:nvSpPr>
        <p:spPr>
          <a:xfrm>
            <a:off x="7690104" y="1572767"/>
            <a:ext cx="438913" cy="438913"/>
          </a:xfrm>
          <a:prstGeom prst="ellipse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33"/>
          <p:cNvSpPr txBox="1"/>
          <p:nvPr/>
        </p:nvSpPr>
        <p:spPr>
          <a:xfrm>
            <a:off x="7690104" y="1687647"/>
            <a:ext cx="438913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8" name="Text 34"/>
          <p:cNvSpPr txBox="1"/>
          <p:nvPr/>
        </p:nvSpPr>
        <p:spPr>
          <a:xfrm>
            <a:off x="7251192" y="2319196"/>
            <a:ext cx="13258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Expediente</a:t>
            </a:r>
          </a:p>
          <a:p>
            <a:pPr algn="ctr">
              <a:defRPr b="1" sz="1100">
                <a:solidFill>
                  <a:srgbClr val="0F172A"/>
                </a:solidFill>
              </a:defRPr>
            </a:pPr>
            <a:r>
              <a:t>registrado</a:t>
            </a:r>
          </a:p>
        </p:txBody>
      </p:sp>
      <p:sp>
        <p:nvSpPr>
          <p:cNvPr id="149" name="Text 35"/>
          <p:cNvSpPr txBox="1"/>
          <p:nvPr/>
        </p:nvSpPr>
        <p:spPr>
          <a:xfrm>
            <a:off x="7251192" y="3027593"/>
            <a:ext cx="132588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i="1" sz="900">
                <a:solidFill>
                  <a:srgbClr val="64748B"/>
                </a:solidFill>
              </a:defRPr>
            </a:pPr>
            <a:r>
              <a:t>Dashboard actualizado,</a:t>
            </a:r>
          </a:p>
          <a:p>
            <a:pPr algn="ctr">
              <a:defRPr i="1" sz="900">
                <a:solidFill>
                  <a:srgbClr val="64748B"/>
                </a:solidFill>
              </a:defRPr>
            </a:pPr>
            <a:r>
              <a:t>plazos calculados</a:t>
            </a:r>
          </a:p>
        </p:txBody>
      </p:sp>
      <p:sp>
        <p:nvSpPr>
          <p:cNvPr id="150" name="Shape 36"/>
          <p:cNvSpPr/>
          <p:nvPr/>
        </p:nvSpPr>
        <p:spPr>
          <a:xfrm>
            <a:off x="320039" y="3886200"/>
            <a:ext cx="3291842" cy="320041"/>
          </a:xfrm>
          <a:prstGeom prst="rect">
            <a:avLst/>
          </a:prstGeom>
          <a:solidFill>
            <a:srgbClr val="FFF7ED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1" name="Text 37"/>
          <p:cNvSpPr txBox="1"/>
          <p:nvPr/>
        </p:nvSpPr>
        <p:spPr>
          <a:xfrm>
            <a:off x="411480" y="3977684"/>
            <a:ext cx="3108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2400E"/>
                </a:solidFill>
              </a:defRPr>
            </a:lvl1pPr>
          </a:lstStyle>
          <a:p>
            <a:pPr/>
            <a:r>
              <a:t>Pasos 1-3: proceso actual manual del equipo Civio</a:t>
            </a:r>
          </a:p>
        </p:txBody>
      </p:sp>
      <p:sp>
        <p:nvSpPr>
          <p:cNvPr id="152" name="Shape 38"/>
          <p:cNvSpPr/>
          <p:nvPr/>
        </p:nvSpPr>
        <p:spPr>
          <a:xfrm>
            <a:off x="3749040" y="3886200"/>
            <a:ext cx="3291841" cy="320041"/>
          </a:xfrm>
          <a:prstGeom prst="rect">
            <a:avLst/>
          </a:prstGeom>
          <a:solidFill>
            <a:srgbClr val="EFF6FF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Text 39"/>
          <p:cNvSpPr txBox="1"/>
          <p:nvPr/>
        </p:nvSpPr>
        <p:spPr>
          <a:xfrm>
            <a:off x="3840479" y="3977684"/>
            <a:ext cx="31089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E40AF"/>
                </a:solidFill>
              </a:defRPr>
            </a:lvl1pPr>
          </a:lstStyle>
          <a:p>
            <a:pPr/>
            <a:r>
              <a:t>Pasos 4-5: nueva plataforma — iteración 1</a:t>
            </a:r>
          </a:p>
        </p:txBody>
      </p:sp>
      <p:sp>
        <p:nvSpPr>
          <p:cNvPr id="154" name="Text 40"/>
          <p:cNvSpPr txBox="1"/>
          <p:nvPr/>
        </p:nvSpPr>
        <p:spPr>
          <a:xfrm>
            <a:off x="320040" y="4498892"/>
            <a:ext cx="850392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64748B"/>
                </a:solidFill>
              </a:defRPr>
            </a:lvl1pPr>
          </a:lstStyle>
          <a:p>
            <a:pPr/>
            <a:r>
              <a:t>En la segunda iteración, los pasos 1-3 también se automatizarán mediante integración con el portal de transparencia.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457200" y="37224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Escalabilidad futura</a:t>
            </a:r>
          </a:p>
        </p:txBody>
      </p:sp>
      <p:sp>
        <p:nvSpPr>
          <p:cNvPr id="157" name="Text 1"/>
          <p:cNvSpPr txBox="1"/>
          <p:nvPr/>
        </p:nvSpPr>
        <p:spPr>
          <a:xfrm>
            <a:off x="457200" y="94531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93C5FD"/>
                </a:solidFill>
              </a:defRPr>
            </a:lvl1pPr>
          </a:lstStyle>
          <a:p>
            <a:pPr/>
            <a:r>
              <a:t>Qué se puede automatizar e implementar en las próximas iteraciones</a:t>
            </a:r>
          </a:p>
        </p:txBody>
      </p:sp>
      <p:sp>
        <p:nvSpPr>
          <p:cNvPr id="158" name="Shape 2"/>
          <p:cNvSpPr/>
          <p:nvPr/>
        </p:nvSpPr>
        <p:spPr>
          <a:xfrm>
            <a:off x="411480" y="1417319"/>
            <a:ext cx="2651761" cy="3429001"/>
          </a:xfrm>
          <a:prstGeom prst="rect">
            <a:avLst/>
          </a:prstGeom>
          <a:solidFill>
            <a:srgbClr val="243358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9" name="Shape 3"/>
          <p:cNvSpPr/>
          <p:nvPr/>
        </p:nvSpPr>
        <p:spPr>
          <a:xfrm>
            <a:off x="411480" y="1417319"/>
            <a:ext cx="2651761" cy="54865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4"/>
          <p:cNvSpPr/>
          <p:nvPr/>
        </p:nvSpPr>
        <p:spPr>
          <a:xfrm>
            <a:off x="548640" y="1572767"/>
            <a:ext cx="685801" cy="292609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5"/>
          <p:cNvSpPr txBox="1"/>
          <p:nvPr/>
        </p:nvSpPr>
        <p:spPr>
          <a:xfrm>
            <a:off x="548640" y="1650536"/>
            <a:ext cx="685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IT. 2</a:t>
            </a:r>
          </a:p>
        </p:txBody>
      </p:sp>
      <p:sp>
        <p:nvSpPr>
          <p:cNvPr id="162" name="Text 6"/>
          <p:cNvSpPr txBox="1"/>
          <p:nvPr/>
        </p:nvSpPr>
        <p:spPr>
          <a:xfrm>
            <a:off x="548640" y="2063304"/>
            <a:ext cx="23774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Extracción de datos profundos</a:t>
            </a:r>
          </a:p>
        </p:txBody>
      </p:sp>
      <p:sp>
        <p:nvSpPr>
          <p:cNvPr id="163" name="Shape 7"/>
          <p:cNvSpPr/>
          <p:nvPr/>
        </p:nvSpPr>
        <p:spPr>
          <a:xfrm>
            <a:off x="548640" y="2371546"/>
            <a:ext cx="2377440" cy="12701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8"/>
          <p:cNvSpPr txBox="1"/>
          <p:nvPr/>
        </p:nvSpPr>
        <p:spPr>
          <a:xfrm>
            <a:off x="548640" y="3210018"/>
            <a:ext cx="237744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3B82F6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Cambio automática del estado de la solicitud.</a:t>
            </a:r>
          </a:p>
        </p:txBody>
      </p:sp>
      <p:sp>
        <p:nvSpPr>
          <p:cNvPr id="165" name="Text 9"/>
          <p:cNvSpPr txBox="1"/>
          <p:nvPr/>
        </p:nvSpPr>
        <p:spPr>
          <a:xfrm>
            <a:off x="548640" y="4056776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3B82F6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Extracción de plazos clave desde el PDF</a:t>
            </a:r>
          </a:p>
        </p:txBody>
      </p:sp>
      <p:sp>
        <p:nvSpPr>
          <p:cNvPr id="166" name="Shape 11"/>
          <p:cNvSpPr/>
          <p:nvPr/>
        </p:nvSpPr>
        <p:spPr>
          <a:xfrm>
            <a:off x="3291840" y="1417319"/>
            <a:ext cx="2651761" cy="3429001"/>
          </a:xfrm>
          <a:prstGeom prst="rect">
            <a:avLst/>
          </a:prstGeom>
          <a:solidFill>
            <a:srgbClr val="243358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7" name="Shape 12"/>
          <p:cNvSpPr/>
          <p:nvPr/>
        </p:nvSpPr>
        <p:spPr>
          <a:xfrm>
            <a:off x="3291840" y="1417319"/>
            <a:ext cx="2651761" cy="54865"/>
          </a:xfrm>
          <a:prstGeom prst="rect">
            <a:avLst/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13"/>
          <p:cNvSpPr/>
          <p:nvPr/>
        </p:nvSpPr>
        <p:spPr>
          <a:xfrm>
            <a:off x="3429000" y="1572767"/>
            <a:ext cx="685800" cy="292609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14"/>
          <p:cNvSpPr txBox="1"/>
          <p:nvPr/>
        </p:nvSpPr>
        <p:spPr>
          <a:xfrm>
            <a:off x="3429000" y="1650536"/>
            <a:ext cx="6858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IT. 3</a:t>
            </a:r>
          </a:p>
        </p:txBody>
      </p:sp>
      <p:sp>
        <p:nvSpPr>
          <p:cNvPr id="170" name="Text 15"/>
          <p:cNvSpPr txBox="1"/>
          <p:nvPr/>
        </p:nvSpPr>
        <p:spPr>
          <a:xfrm>
            <a:off x="3429000" y="2063304"/>
            <a:ext cx="23774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Alertas y dashboard</a:t>
            </a:r>
          </a:p>
        </p:txBody>
      </p:sp>
      <p:sp>
        <p:nvSpPr>
          <p:cNvPr id="171" name="Shape 16"/>
          <p:cNvSpPr/>
          <p:nvPr/>
        </p:nvSpPr>
        <p:spPr>
          <a:xfrm>
            <a:off x="3429000" y="2371546"/>
            <a:ext cx="2377440" cy="12701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7"/>
          <p:cNvSpPr txBox="1"/>
          <p:nvPr/>
        </p:nvSpPr>
        <p:spPr>
          <a:xfrm>
            <a:off x="3429000" y="2623864"/>
            <a:ext cx="2377440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Email diario automático: solicitudes a reclamar, plazos próximos, resoluciones favorables sin cumplir</a:t>
            </a:r>
          </a:p>
        </p:txBody>
      </p:sp>
      <p:sp>
        <p:nvSpPr>
          <p:cNvPr id="173" name="Text 18"/>
          <p:cNvSpPr txBox="1"/>
          <p:nvPr/>
        </p:nvSpPr>
        <p:spPr>
          <a:xfrm>
            <a:off x="3429000" y="3465366"/>
            <a:ext cx="237744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Dashboard por organismo, fecha, estado y periodista responsable</a:t>
            </a:r>
          </a:p>
        </p:txBody>
      </p:sp>
      <p:sp>
        <p:nvSpPr>
          <p:cNvPr id="174" name="Text 19"/>
          <p:cNvSpPr txBox="1"/>
          <p:nvPr/>
        </p:nvSpPr>
        <p:spPr>
          <a:xfrm>
            <a:off x="3429000" y="4224318"/>
            <a:ext cx="2377440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F59E0B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Contador de días de incumplimiento post-resolución</a:t>
            </a:r>
          </a:p>
        </p:txBody>
      </p:sp>
      <p:sp>
        <p:nvSpPr>
          <p:cNvPr id="175" name="Shape 20"/>
          <p:cNvSpPr/>
          <p:nvPr/>
        </p:nvSpPr>
        <p:spPr>
          <a:xfrm>
            <a:off x="6172200" y="1417319"/>
            <a:ext cx="2651761" cy="3429001"/>
          </a:xfrm>
          <a:prstGeom prst="rect">
            <a:avLst/>
          </a:prstGeom>
          <a:solidFill>
            <a:srgbClr val="243358"/>
          </a:solidFill>
          <a:ln w="12700">
            <a:miter lim="400000"/>
          </a:ln>
          <a:effectLst>
            <a:outerShdw sx="100000" sy="100000" kx="0" ky="0" algn="b" rotWithShape="0" blurRad="1016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Shape 21"/>
          <p:cNvSpPr/>
          <p:nvPr/>
        </p:nvSpPr>
        <p:spPr>
          <a:xfrm>
            <a:off x="6172200" y="1417319"/>
            <a:ext cx="2651761" cy="54865"/>
          </a:xfrm>
          <a:prstGeom prst="rect">
            <a:avLst/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Shape 22"/>
          <p:cNvSpPr/>
          <p:nvPr/>
        </p:nvSpPr>
        <p:spPr>
          <a:xfrm>
            <a:off x="6309359" y="1572767"/>
            <a:ext cx="685801" cy="292609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23"/>
          <p:cNvSpPr txBox="1"/>
          <p:nvPr/>
        </p:nvSpPr>
        <p:spPr>
          <a:xfrm>
            <a:off x="6309359" y="1650536"/>
            <a:ext cx="685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IT. 4</a:t>
            </a:r>
          </a:p>
        </p:txBody>
      </p:sp>
      <p:sp>
        <p:nvSpPr>
          <p:cNvPr id="179" name="Text 24"/>
          <p:cNvSpPr txBox="1"/>
          <p:nvPr/>
        </p:nvSpPr>
        <p:spPr>
          <a:xfrm>
            <a:off x="6309359" y="2063304"/>
            <a:ext cx="23774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Integración total</a:t>
            </a:r>
          </a:p>
        </p:txBody>
      </p:sp>
      <p:sp>
        <p:nvSpPr>
          <p:cNvPr id="180" name="Shape 25"/>
          <p:cNvSpPr/>
          <p:nvPr/>
        </p:nvSpPr>
        <p:spPr>
          <a:xfrm>
            <a:off x="6309359" y="2371546"/>
            <a:ext cx="2377441" cy="12701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26"/>
          <p:cNvSpPr txBox="1"/>
          <p:nvPr/>
        </p:nvSpPr>
        <p:spPr>
          <a:xfrm>
            <a:off x="6309360" y="2623864"/>
            <a:ext cx="2377441" cy="467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Conexión directa con el portal de transparencia (descarga automática sin certificado digital)</a:t>
            </a:r>
          </a:p>
        </p:txBody>
      </p:sp>
      <p:sp>
        <p:nvSpPr>
          <p:cNvPr id="182" name="Text 27"/>
          <p:cNvSpPr txBox="1"/>
          <p:nvPr/>
        </p:nvSpPr>
        <p:spPr>
          <a:xfrm>
            <a:off x="6309359" y="3203886"/>
            <a:ext cx="237744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Cobertura autonómica y local: un sistema para todos los portales</a:t>
            </a:r>
          </a:p>
        </p:txBody>
      </p:sp>
      <p:sp>
        <p:nvSpPr>
          <p:cNvPr id="183" name="Text 28"/>
          <p:cNvSpPr txBox="1"/>
          <p:nvPr/>
        </p:nvSpPr>
        <p:spPr>
          <a:xfrm>
            <a:off x="6309359" y="3727424"/>
            <a:ext cx="237744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10B981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Asistente IA para redactar solicitudes y recursos optimizados</a:t>
            </a:r>
          </a:p>
        </p:txBody>
      </p:sp>
      <p:sp>
        <p:nvSpPr>
          <p:cNvPr id="184" name="Text 10"/>
          <p:cNvSpPr txBox="1"/>
          <p:nvPr/>
        </p:nvSpPr>
        <p:spPr>
          <a:xfrm>
            <a:off x="6309360" y="4250961"/>
            <a:ext cx="237744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3B82F6"/>
                </a:solidFill>
              </a:defRPr>
            </a:pPr>
            <a:r>
              <a:rPr>
                <a:solidFill>
                  <a:srgbClr val="10B981"/>
                </a:solidFill>
              </a:rPr>
              <a:t>→</a:t>
            </a:r>
            <a:r>
              <a:t> </a:t>
            </a:r>
            <a:r>
              <a:rPr b="0">
                <a:solidFill>
                  <a:srgbClr val="E2E8F0"/>
                </a:solidFill>
              </a:rPr>
              <a:t>Detección de expedientes redistribuidos (patrón 1→22)</a:t>
            </a:r>
          </a:p>
        </p:txBody>
      </p:sp>
      <p:sp>
        <p:nvSpPr>
          <p:cNvPr id="185" name="Text 8"/>
          <p:cNvSpPr txBox="1"/>
          <p:nvPr/>
        </p:nvSpPr>
        <p:spPr>
          <a:xfrm>
            <a:off x="548640" y="2528360"/>
            <a:ext cx="237744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3B82F6"/>
                </a:solidFill>
              </a:defRPr>
            </a:pPr>
            <a:r>
              <a:t>→  </a:t>
            </a:r>
            <a:r>
              <a:rPr b="0">
                <a:solidFill>
                  <a:srgbClr val="E2E8F0"/>
                </a:solidFill>
              </a:rPr>
              <a:t>Subida documento y extracción de datos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Screenshot 2026-05-30 at 18.04.46.png" descr="Screenshot 2026-05-30 at 18.04.46.png"/>
          <p:cNvPicPr>
            <a:picLocks noChangeAspect="1"/>
          </p:cNvPicPr>
          <p:nvPr/>
        </p:nvPicPr>
        <p:blipFill>
          <a:blip r:embed="rId2">
            <a:extLst/>
          </a:blip>
          <a:srcRect l="0" t="10813" r="0" b="3167"/>
          <a:stretch>
            <a:fillRect/>
          </a:stretch>
        </p:blipFill>
        <p:spPr>
          <a:xfrm>
            <a:off x="788193" y="359568"/>
            <a:ext cx="7567560" cy="44244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 txBox="1"/>
          <p:nvPr/>
        </p:nvSpPr>
        <p:spPr>
          <a:xfrm>
            <a:off x="457200" y="372243"/>
            <a:ext cx="8229600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0F172A"/>
                </a:solidFill>
              </a:defRPr>
            </a:lvl1pPr>
          </a:lstStyle>
          <a:p>
            <a:pPr/>
            <a:r>
              <a:t>¿Qué se automatiza?</a:t>
            </a:r>
          </a:p>
        </p:txBody>
      </p:sp>
      <p:sp>
        <p:nvSpPr>
          <p:cNvPr id="190" name="Text 1"/>
          <p:cNvSpPr txBox="1"/>
          <p:nvPr/>
        </p:nvSpPr>
        <p:spPr>
          <a:xfrm>
            <a:off x="457200" y="945319"/>
            <a:ext cx="82296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pPr/>
            <a:r>
              <a:t>De trabajo manual diario a sistema que trabaja solo — el máximo impacto con el menor esfuerzo del equipo</a:t>
            </a:r>
          </a:p>
        </p:txBody>
      </p:sp>
      <p:sp>
        <p:nvSpPr>
          <p:cNvPr id="191" name="Shape 2"/>
          <p:cNvSpPr/>
          <p:nvPr/>
        </p:nvSpPr>
        <p:spPr>
          <a:xfrm>
            <a:off x="411480" y="1371600"/>
            <a:ext cx="3886201" cy="347473"/>
          </a:xfrm>
          <a:prstGeom prst="rect">
            <a:avLst/>
          </a:prstGeom>
          <a:solidFill>
            <a:srgbClr val="FEE2E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3"/>
          <p:cNvSpPr txBox="1"/>
          <p:nvPr/>
        </p:nvSpPr>
        <p:spPr>
          <a:xfrm>
            <a:off x="502919" y="1418335"/>
            <a:ext cx="37033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❌  </a:t>
            </a:r>
            <a:r>
              <a:t>Hoy — proceso manual</a:t>
            </a:r>
          </a:p>
        </p:txBody>
      </p:sp>
      <p:sp>
        <p:nvSpPr>
          <p:cNvPr id="193" name="Shape 4"/>
          <p:cNvSpPr/>
          <p:nvPr/>
        </p:nvSpPr>
        <p:spPr>
          <a:xfrm>
            <a:off x="4846320" y="1371600"/>
            <a:ext cx="3886201" cy="347473"/>
          </a:xfrm>
          <a:prstGeom prst="rect">
            <a:avLst/>
          </a:prstGeom>
          <a:solidFill>
            <a:srgbClr val="DCFCE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5"/>
          <p:cNvSpPr txBox="1"/>
          <p:nvPr/>
        </p:nvSpPr>
        <p:spPr>
          <a:xfrm>
            <a:off x="4937759" y="1447109"/>
            <a:ext cx="3703321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6A34A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  </a:t>
            </a:r>
            <a:r>
              <a:t>Futuro — automatizado</a:t>
            </a:r>
          </a:p>
        </p:txBody>
      </p:sp>
      <p:sp>
        <p:nvSpPr>
          <p:cNvPr id="195" name="Shape 6"/>
          <p:cNvSpPr/>
          <p:nvPr/>
        </p:nvSpPr>
        <p:spPr>
          <a:xfrm>
            <a:off x="411480" y="1810511"/>
            <a:ext cx="3886201" cy="4389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7"/>
          <p:cNvSpPr txBox="1"/>
          <p:nvPr/>
        </p:nvSpPr>
        <p:spPr>
          <a:xfrm>
            <a:off x="548640" y="1961432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Leer cada email del portal + entrar con certificado digital</a:t>
            </a:r>
          </a:p>
        </p:txBody>
      </p:sp>
      <p:sp>
        <p:nvSpPr>
          <p:cNvPr id="197" name="Shape 8"/>
          <p:cNvSpPr/>
          <p:nvPr/>
        </p:nvSpPr>
        <p:spPr>
          <a:xfrm>
            <a:off x="4846320" y="1810511"/>
            <a:ext cx="3886201" cy="4389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9"/>
          <p:cNvSpPr txBox="1"/>
          <p:nvPr/>
        </p:nvSpPr>
        <p:spPr>
          <a:xfrm>
            <a:off x="4983479" y="1961432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66534"/>
                </a:solidFill>
              </a:defRPr>
            </a:lvl1pPr>
          </a:lstStyle>
          <a:p>
            <a:pPr/>
            <a:r>
              <a:t>Sistema detecta tipo de notificación automáticamente al subir el PDF</a:t>
            </a:r>
          </a:p>
        </p:txBody>
      </p:sp>
      <p:sp>
        <p:nvSpPr>
          <p:cNvPr id="199" name="Shape 10"/>
          <p:cNvSpPr/>
          <p:nvPr/>
        </p:nvSpPr>
        <p:spPr>
          <a:xfrm>
            <a:off x="411480" y="2286000"/>
            <a:ext cx="3886201" cy="438912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11"/>
          <p:cNvSpPr txBox="1"/>
          <p:nvPr/>
        </p:nvSpPr>
        <p:spPr>
          <a:xfrm>
            <a:off x="548640" y="2436920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Descargar PDF antes de caducidad (o perder el documento)</a:t>
            </a:r>
          </a:p>
        </p:txBody>
      </p:sp>
      <p:sp>
        <p:nvSpPr>
          <p:cNvPr id="201" name="Shape 12"/>
          <p:cNvSpPr/>
          <p:nvPr/>
        </p:nvSpPr>
        <p:spPr>
          <a:xfrm>
            <a:off x="4846320" y="2286000"/>
            <a:ext cx="3886201" cy="438912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13"/>
          <p:cNvSpPr txBox="1"/>
          <p:nvPr/>
        </p:nvSpPr>
        <p:spPr>
          <a:xfrm>
            <a:off x="4983479" y="2436920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66534"/>
                </a:solidFill>
              </a:defRPr>
            </a:lvl1pPr>
          </a:lstStyle>
          <a:p>
            <a:pPr/>
            <a:r>
              <a:t>Alertas proactivas antes de que caduque cualquier documento</a:t>
            </a:r>
          </a:p>
        </p:txBody>
      </p:sp>
      <p:sp>
        <p:nvSpPr>
          <p:cNvPr id="203" name="Shape 14"/>
          <p:cNvSpPr/>
          <p:nvPr/>
        </p:nvSpPr>
        <p:spPr>
          <a:xfrm>
            <a:off x="411480" y="2761488"/>
            <a:ext cx="3886201" cy="4389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15"/>
          <p:cNvSpPr txBox="1"/>
          <p:nvPr/>
        </p:nvSpPr>
        <p:spPr>
          <a:xfrm>
            <a:off x="548640" y="2912408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Calcular manualmente cuándo vence el plazo ordinario y la prórroga</a:t>
            </a:r>
          </a:p>
        </p:txBody>
      </p:sp>
      <p:sp>
        <p:nvSpPr>
          <p:cNvPr id="205" name="Shape 16"/>
          <p:cNvSpPr/>
          <p:nvPr/>
        </p:nvSpPr>
        <p:spPr>
          <a:xfrm>
            <a:off x="4846320" y="2761488"/>
            <a:ext cx="3886201" cy="43891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17"/>
          <p:cNvSpPr txBox="1"/>
          <p:nvPr/>
        </p:nvSpPr>
        <p:spPr>
          <a:xfrm>
            <a:off x="4983479" y="2912408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66534"/>
                </a:solidFill>
              </a:defRPr>
            </a:lvl1pPr>
          </a:lstStyle>
          <a:p>
            <a:pPr/>
            <a:r>
              <a:t>Cálculo automático de todos los plazos desde la fecha de tramitación</a:t>
            </a:r>
          </a:p>
        </p:txBody>
      </p:sp>
      <p:sp>
        <p:nvSpPr>
          <p:cNvPr id="207" name="Shape 18"/>
          <p:cNvSpPr/>
          <p:nvPr/>
        </p:nvSpPr>
        <p:spPr>
          <a:xfrm>
            <a:off x="411480" y="3236976"/>
            <a:ext cx="3886201" cy="438913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9"/>
          <p:cNvSpPr txBox="1"/>
          <p:nvPr/>
        </p:nvSpPr>
        <p:spPr>
          <a:xfrm>
            <a:off x="548640" y="3387896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Recordar en la cabeza el plazo de alegaciones ante el Consejo</a:t>
            </a:r>
          </a:p>
        </p:txBody>
      </p:sp>
      <p:sp>
        <p:nvSpPr>
          <p:cNvPr id="209" name="Shape 20"/>
          <p:cNvSpPr/>
          <p:nvPr/>
        </p:nvSpPr>
        <p:spPr>
          <a:xfrm>
            <a:off x="4846320" y="3236976"/>
            <a:ext cx="3886201" cy="438913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21"/>
          <p:cNvSpPr txBox="1"/>
          <p:nvPr/>
        </p:nvSpPr>
        <p:spPr>
          <a:xfrm>
            <a:off x="4983479" y="3387896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66534"/>
                </a:solidFill>
              </a:defRPr>
            </a:lvl1pPr>
          </a:lstStyle>
          <a:p>
            <a:pPr/>
            <a:r>
              <a:t>Registro de períodos de alegaciones en el sistema, no en la memoria</a:t>
            </a:r>
          </a:p>
        </p:txBody>
      </p:sp>
      <p:sp>
        <p:nvSpPr>
          <p:cNvPr id="211" name="Shape 22"/>
          <p:cNvSpPr/>
          <p:nvPr/>
        </p:nvSpPr>
        <p:spPr>
          <a:xfrm>
            <a:off x="411480" y="3712464"/>
            <a:ext cx="3886201" cy="4389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23"/>
          <p:cNvSpPr txBox="1"/>
          <p:nvPr/>
        </p:nvSpPr>
        <p:spPr>
          <a:xfrm>
            <a:off x="548640" y="3863384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Detectar si una solicitud se ha multiplicado en 22 expedientes</a:t>
            </a:r>
          </a:p>
        </p:txBody>
      </p:sp>
      <p:sp>
        <p:nvSpPr>
          <p:cNvPr id="213" name="Shape 24"/>
          <p:cNvSpPr/>
          <p:nvPr/>
        </p:nvSpPr>
        <p:spPr>
          <a:xfrm>
            <a:off x="4846320" y="3712464"/>
            <a:ext cx="3886201" cy="4389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25"/>
          <p:cNvSpPr txBox="1"/>
          <p:nvPr/>
        </p:nvSpPr>
        <p:spPr>
          <a:xfrm>
            <a:off x="4983479" y="3863384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66534"/>
                </a:solidFill>
              </a:defRPr>
            </a:lvl1pPr>
          </a:lstStyle>
          <a:p>
            <a:pPr/>
            <a:r>
              <a:t>Detección de patrones de redistribución y agrupación automática</a:t>
            </a:r>
          </a:p>
        </p:txBody>
      </p:sp>
      <p:sp>
        <p:nvSpPr>
          <p:cNvPr id="215" name="Shape 26"/>
          <p:cNvSpPr/>
          <p:nvPr/>
        </p:nvSpPr>
        <p:spPr>
          <a:xfrm>
            <a:off x="411480" y="4187952"/>
            <a:ext cx="3886201" cy="438913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27"/>
          <p:cNvSpPr txBox="1"/>
          <p:nvPr/>
        </p:nvSpPr>
        <p:spPr>
          <a:xfrm>
            <a:off x="548640" y="4338872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74151"/>
                </a:solidFill>
              </a:defRPr>
            </a:lvl1pPr>
          </a:lstStyle>
          <a:p>
            <a:pPr/>
            <a:r>
              <a:t>Email manual diario con listas de solicitudes pendientes</a:t>
            </a:r>
          </a:p>
        </p:txBody>
      </p:sp>
      <p:sp>
        <p:nvSpPr>
          <p:cNvPr id="217" name="Shape 28"/>
          <p:cNvSpPr/>
          <p:nvPr/>
        </p:nvSpPr>
        <p:spPr>
          <a:xfrm>
            <a:off x="4846320" y="4187952"/>
            <a:ext cx="3886201" cy="438913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29"/>
          <p:cNvSpPr txBox="1"/>
          <p:nvPr/>
        </p:nvSpPr>
        <p:spPr>
          <a:xfrm>
            <a:off x="4983479" y="4338872"/>
            <a:ext cx="3657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166534"/>
                </a:solidFill>
              </a:defRPr>
            </a:lvl1pPr>
          </a:lstStyle>
          <a:p>
            <a:pPr/>
            <a:r>
              <a:t>Dashboard en tiempo real + email automático cada mañana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